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695" cy="6858000" type="wide"/>
  <p:notesSz cx="6858000" cy="9144000"/>
  <p:defaultTextStyle>
    <a:defPPr>
      <a:defRPr lang="zh-CN">
        <a:latin typeface="Aptos"/>
        <a:ea typeface="PingFang SC"/>
        <a:cs typeface="Aptos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penwork-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pic>
        <p:nvPicPr>
          <p:cNvPr id="4" name="Openwork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86384" y="676656"/>
            <a:ext cx="658368" cy="658368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749808" y="1536192"/>
            <a:ext cx="7589520" cy="53035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4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Openwork</a:t>
            </a:r>
            <a:endParaRPr lang="zh-CN" sz="4800"/>
          </a:p>
        </p:txBody>
      </p:sp>
      <p:sp>
        <p:nvSpPr>
          <p:cNvPr id="6" name="Shape 6"/>
          <p:cNvSpPr txBox="1"/>
          <p:nvPr/>
        </p:nvSpPr>
        <p:spPr>
          <a:xfrm>
            <a:off x="786384" y="2212848"/>
            <a:ext cx="7955280" cy="100584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24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一个 harness-first 的受控执行系统，而不是“带工具的聊天框”。用户能发起任务、观察进展、审批风险动作、查看产物，并在 Agent 错误时恢复。</a:t>
            </a:r>
            <a:endParaRPr lang="zh-CN" sz="2400"/>
          </a:p>
        </p:txBody>
      </p:sp>
      <p:sp>
        <p:nvSpPr>
          <p:cNvPr id="7" name="Shape 7"/>
          <p:cNvSpPr txBox="1"/>
          <p:nvPr/>
        </p:nvSpPr>
        <p:spPr>
          <a:xfrm>
            <a:off x="786384" y="3822192"/>
            <a:ext cx="3246120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Controlled execution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4224528" y="3822192"/>
            <a:ext cx="3246120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Human approval</a:t>
            </a:r>
            <a:endParaRPr lang="zh-CN" sz="1400"/>
          </a:p>
        </p:txBody>
      </p:sp>
      <p:sp>
        <p:nvSpPr>
          <p:cNvPr id="9" name="Shape 9"/>
          <p:cNvSpPr txBox="1"/>
          <p:nvPr/>
        </p:nvSpPr>
        <p:spPr>
          <a:xfrm>
            <a:off x="7662672" y="3822192"/>
            <a:ext cx="3246120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Persistent run visibility</a:t>
            </a:r>
            <a:endParaRPr lang="zh-CN" sz="1400"/>
          </a:p>
        </p:txBody>
      </p:sp>
      <p:sp>
        <p:nvSpPr>
          <p:cNvPr id="10" name="Shape 10"/>
          <p:cNvSpPr txBox="1"/>
          <p:nvPr/>
        </p:nvSpPr>
        <p:spPr>
          <a:xfrm>
            <a:off x="786384" y="5742432"/>
            <a:ext cx="7315200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分享目标：用 20 分钟讲清楚产品为什么存在、核心工作流是什么、工程架构如何支撑它。</a:t>
            </a:r>
            <a:endParaRPr lang="zh-CN" sz="1200"/>
          </a:p>
        </p:txBody>
      </p:sp>
      <p:sp>
        <p:nvSpPr>
          <p:cNvPr id="11" name="Shape 11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README.md / docs/product-narrative.md</a:t>
            </a:r>
            <a:endParaRPr lang="zh-CN" sz="800"/>
          </a:p>
        </p:txBody>
      </p:sp>
      <p:sp>
        <p:nvSpPr>
          <p:cNvPr id="12" name="Shape 12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01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用户问题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为什么需要 Openwork</a:t>
            </a:r>
            <a:endParaRPr lang="zh-CN" sz="3000"/>
          </a:p>
        </p:txBody>
      </p:sp>
      <p:sp>
        <p:nvSpPr>
          <p:cNvPr id="6" name="Shape 6"/>
          <p:cNvSpPr txBox="1"/>
          <p:nvPr/>
        </p:nvSpPr>
        <p:spPr>
          <a:xfrm>
            <a:off x="786384" y="1298448"/>
            <a:ext cx="5577840" cy="82296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2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当下多数 coding-agent 产品把非程序员夹在两个失败模式之间：</a:t>
            </a:r>
            <a:endParaRPr lang="zh-CN" sz="2200"/>
          </a:p>
        </p:txBody>
      </p:sp>
      <p:sp>
        <p:nvSpPr>
          <p:cNvPr id="7" name="Shape 7"/>
          <p:cNvSpPr txBox="0"/>
          <p:nvPr/>
        </p:nvSpPr>
        <p:spPr>
          <a:xfrm>
            <a:off x="786384" y="2468880"/>
            <a:ext cx="5166360" cy="19933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078992" y="2724912"/>
            <a:ext cx="4480560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4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强，但黑箱</a:t>
            </a:r>
            <a:endParaRPr lang="zh-CN" sz="2400"/>
          </a:p>
        </p:txBody>
      </p:sp>
      <p:sp>
        <p:nvSpPr>
          <p:cNvPr id="9" name="Shape 9"/>
          <p:cNvSpPr txBox="1"/>
          <p:nvPr/>
        </p:nvSpPr>
        <p:spPr>
          <a:xfrm>
            <a:off x="1078992" y="3255264"/>
            <a:ext cx="4526280" cy="89611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Agent 在行动，但用户看不懂发生了什么</a:t>
            </a:r>
            <a:endParaRPr lang="zh-CN" sz="1500"/>
          </a:p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风险动作、等待事项、恢复路径不清晰</a:t>
            </a:r>
            <a:endParaRPr lang="zh-CN" sz="1500"/>
          </a:p>
        </p:txBody>
      </p:sp>
      <p:sp>
        <p:nvSpPr>
          <p:cNvPr id="10" name="Shape 10"/>
          <p:cNvSpPr txBox="0"/>
          <p:nvPr/>
        </p:nvSpPr>
        <p:spPr>
          <a:xfrm>
            <a:off x="6236208" y="2468880"/>
            <a:ext cx="5166360" cy="19933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6528816" y="2724912"/>
            <a:ext cx="4480560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400">
                <a:solidFill>
                  <a:srgbClr val="F2C94C"/>
                </a:solidFill>
                <a:latin typeface="Aptos"/>
                <a:ea typeface="PingFang SC"/>
                <a:cs typeface="Aptos"/>
              </a:rPr>
              <a:t>安全，但很弱</a:t>
            </a:r>
            <a:endParaRPr lang="zh-CN" sz="2400"/>
          </a:p>
        </p:txBody>
      </p:sp>
      <p:sp>
        <p:nvSpPr>
          <p:cNvPr id="12" name="Shape 12"/>
          <p:cNvSpPr txBox="1"/>
          <p:nvPr/>
        </p:nvSpPr>
        <p:spPr>
          <a:xfrm>
            <a:off x="6528816" y="3255264"/>
            <a:ext cx="4526280" cy="89611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退化成聊天框、表单工具或玩具 workflow</a:t>
            </a:r>
            <a:endParaRPr lang="zh-CN" sz="1500"/>
          </a:p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无法承接真实软件工作</a:t>
            </a:r>
            <a:endParaRPr lang="zh-CN" sz="1500"/>
          </a:p>
        </p:txBody>
      </p:sp>
      <p:sp>
        <p:nvSpPr>
          <p:cNvPr id="13" name="Shape 13"/>
          <p:cNvSpPr txBox="1"/>
          <p:nvPr/>
        </p:nvSpPr>
        <p:spPr>
          <a:xfrm>
            <a:off x="2103120" y="5138928"/>
            <a:ext cx="8001000" cy="804672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FF4B4B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Openwork 要解决的不是“让 Agent 更自主”，而是让委托变得可控、可审计、可恢复。</a:t>
            </a:r>
            <a:endParaRPr lang="zh-CN" sz="1400"/>
          </a:p>
        </p:txBody>
      </p:sp>
      <p:sp>
        <p:nvSpPr>
          <p:cNvPr id="14" name="Shape 14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docs/product-narrative.md</a:t>
            </a:r>
            <a:endParaRPr lang="zh-CN" sz="800"/>
          </a:p>
        </p:txBody>
      </p:sp>
      <p:sp>
        <p:nvSpPr>
          <p:cNvPr id="15" name="Shape 15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02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核心论点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产品判断</a:t>
            </a:r>
            <a:endParaRPr lang="zh-CN" sz="3000"/>
          </a:p>
        </p:txBody>
      </p:sp>
      <p:sp>
        <p:nvSpPr>
          <p:cNvPr id="6" name="Shape 6"/>
          <p:cNvSpPr txBox="1"/>
          <p:nvPr/>
        </p:nvSpPr>
        <p:spPr>
          <a:xfrm>
            <a:off x="786384" y="1234440"/>
            <a:ext cx="10515600" cy="7315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Openwork 是一个 controlled execution system：</a:t>
            </a:r>
            <a:endParaRPr lang="zh-CN" sz="2600"/>
          </a:p>
        </p:txBody>
      </p:sp>
      <p:sp>
        <p:nvSpPr>
          <p:cNvPr id="7" name="Shape 7"/>
          <p:cNvSpPr txBox="1"/>
          <p:nvPr/>
        </p:nvSpPr>
        <p:spPr>
          <a:xfrm>
            <a:off x="786384" y="1901952"/>
            <a:ext cx="10241280" cy="6583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20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用户交付一个软件目标，系统把它变成有边界、有审批点、有证据链的执行单元。</a:t>
            </a:r>
            <a:endParaRPr lang="zh-CN" sz="2000"/>
          </a:p>
        </p:txBody>
      </p:sp>
      <p:sp>
        <p:nvSpPr>
          <p:cNvPr id="8" name="Shape 8"/>
          <p:cNvSpPr txBox="1"/>
          <p:nvPr/>
        </p:nvSpPr>
        <p:spPr>
          <a:xfrm>
            <a:off x="914400" y="2926080"/>
            <a:ext cx="2880360" cy="117043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Agent execution</a:t>
            </a:r>
            <a:endParaRPr lang="zh-CN" sz="1400"/>
          </a:p>
        </p:txBody>
      </p:sp>
      <p:sp>
        <p:nvSpPr>
          <p:cNvPr id="9" name="Shape 9"/>
          <p:cNvSpPr txBox="1"/>
          <p:nvPr/>
        </p:nvSpPr>
        <p:spPr>
          <a:xfrm>
            <a:off x="4663440" y="2926080"/>
            <a:ext cx="2880360" cy="117043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4B4B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Harness control</a:t>
            </a:r>
            <a:endParaRPr lang="zh-CN" sz="1400"/>
          </a:p>
        </p:txBody>
      </p:sp>
      <p:sp>
        <p:nvSpPr>
          <p:cNvPr id="10" name="Shape 10"/>
          <p:cNvSpPr txBox="1"/>
          <p:nvPr/>
        </p:nvSpPr>
        <p:spPr>
          <a:xfrm>
            <a:off x="8412480" y="2926080"/>
            <a:ext cx="2880360" cy="117043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Human judgment</a:t>
            </a:r>
            <a:endParaRPr lang="zh-CN" sz="1400"/>
          </a:p>
        </p:txBody>
      </p:sp>
      <p:sp>
        <p:nvSpPr>
          <p:cNvPr id="11" name="Shape 11"/>
          <p:cNvSpPr txBox="0"/>
          <p:nvPr/>
        </p:nvSpPr>
        <p:spPr>
          <a:xfrm>
            <a:off x="3794760" y="3511296"/>
            <a:ext cx="67665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2" name="Shape 12"/>
          <p:cNvSpPr txBox="0"/>
          <p:nvPr/>
        </p:nvSpPr>
        <p:spPr>
          <a:xfrm>
            <a:off x="7543800" y="3511296"/>
            <a:ext cx="67665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969264" y="4882896"/>
            <a:ext cx="9875520" cy="69494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20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必须让用户始终知道：Agent 想做什么、已经做了什么、改动了什么、需要我批准什么、如何中断/恢复/重试。</a:t>
            </a:r>
            <a:endParaRPr lang="zh-CN" sz="2000"/>
          </a:p>
        </p:txBody>
      </p:sp>
      <p:sp>
        <p:nvSpPr>
          <p:cNvPr id="14" name="Shape 14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docs/product-narrative.md</a:t>
            </a:r>
            <a:endParaRPr lang="zh-CN" sz="800"/>
          </a:p>
        </p:txBody>
      </p:sp>
      <p:sp>
        <p:nvSpPr>
          <p:cNvPr id="15" name="Shape 15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03</a:t>
            </a:r>
            <a:endParaRPr lang="zh-CN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用户视角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Hero Workflow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658368" y="1572768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859536" y="1773936"/>
            <a:ext cx="411480" cy="411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1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1408176" y="1755648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提出目标</a:t>
            </a:r>
            <a:endParaRPr lang="zh-CN" sz="1800"/>
          </a:p>
        </p:txBody>
      </p:sp>
      <p:sp>
        <p:nvSpPr>
          <p:cNvPr id="9" name="Shape 9"/>
          <p:cNvSpPr txBox="1"/>
          <p:nvPr/>
        </p:nvSpPr>
        <p:spPr>
          <a:xfrm>
            <a:off x="1408176" y="2103120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用户描述一个具体软件目标</a:t>
            </a:r>
            <a:endParaRPr lang="zh-CN" sz="1200"/>
          </a:p>
        </p:txBody>
      </p:sp>
      <p:sp>
        <p:nvSpPr>
          <p:cNvPr id="10" name="Shape 10"/>
          <p:cNvSpPr txBox="0"/>
          <p:nvPr/>
        </p:nvSpPr>
        <p:spPr>
          <a:xfrm>
            <a:off x="4498848" y="1572768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4700016" y="1773936"/>
            <a:ext cx="411480" cy="411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2</a:t>
            </a:r>
            <a:endParaRPr lang="zh-CN" sz="1400"/>
          </a:p>
        </p:txBody>
      </p:sp>
      <p:sp>
        <p:nvSpPr>
          <p:cNvPr id="12" name="Shape 12"/>
          <p:cNvSpPr txBox="1"/>
          <p:nvPr/>
        </p:nvSpPr>
        <p:spPr>
          <a:xfrm>
            <a:off x="5248656" y="1755648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生成工作单元</a:t>
            </a:r>
            <a:endParaRPr lang="zh-CN" sz="1800"/>
          </a:p>
        </p:txBody>
      </p:sp>
      <p:sp>
        <p:nvSpPr>
          <p:cNvPr id="13" name="Shape 13"/>
          <p:cNvSpPr txBox="1"/>
          <p:nvPr/>
        </p:nvSpPr>
        <p:spPr>
          <a:xfrm>
            <a:off x="5248656" y="2103120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Openwork 绑定 workspace、thread、run</a:t>
            </a:r>
            <a:endParaRPr lang="zh-CN" sz="1200"/>
          </a:p>
        </p:txBody>
      </p:sp>
      <p:sp>
        <p:nvSpPr>
          <p:cNvPr id="14" name="Shape 14"/>
          <p:cNvSpPr txBox="0"/>
          <p:nvPr/>
        </p:nvSpPr>
        <p:spPr>
          <a:xfrm>
            <a:off x="8339328" y="1572768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8540496" y="1773936"/>
            <a:ext cx="411480" cy="411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3</a:t>
            </a:r>
            <a:endParaRPr lang="zh-CN" sz="1400"/>
          </a:p>
        </p:txBody>
      </p:sp>
      <p:sp>
        <p:nvSpPr>
          <p:cNvPr id="16" name="Shape 16"/>
          <p:cNvSpPr txBox="1"/>
          <p:nvPr/>
        </p:nvSpPr>
        <p:spPr>
          <a:xfrm>
            <a:off x="9089136" y="1755648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计划并执行</a:t>
            </a:r>
            <a:endParaRPr lang="zh-CN" sz="1800"/>
          </a:p>
        </p:txBody>
      </p:sp>
      <p:sp>
        <p:nvSpPr>
          <p:cNvPr id="17" name="Shape 17"/>
          <p:cNvSpPr txBox="1"/>
          <p:nvPr/>
        </p:nvSpPr>
        <p:spPr>
          <a:xfrm>
            <a:off x="9089136" y="2103120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Agent 使用工具、产出事件流</a:t>
            </a:r>
            <a:endParaRPr lang="zh-CN" sz="1200"/>
          </a:p>
        </p:txBody>
      </p:sp>
      <p:sp>
        <p:nvSpPr>
          <p:cNvPr id="18" name="Shape 18"/>
          <p:cNvSpPr txBox="0"/>
          <p:nvPr/>
        </p:nvSpPr>
        <p:spPr>
          <a:xfrm>
            <a:off x="658368" y="3108960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4B4B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859536" y="3310128"/>
            <a:ext cx="411480" cy="411480"/>
          </a:xfrm>
          <a:prstGeom prst="round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4</a:t>
            </a:r>
            <a:endParaRPr lang="zh-CN" sz="1400"/>
          </a:p>
        </p:txBody>
      </p:sp>
      <p:sp>
        <p:nvSpPr>
          <p:cNvPr id="20" name="Shape 20"/>
          <p:cNvSpPr txBox="1"/>
          <p:nvPr/>
        </p:nvSpPr>
        <p:spPr>
          <a:xfrm>
            <a:off x="1408176" y="3291840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风险审批</a:t>
            </a:r>
            <a:endParaRPr lang="zh-CN" sz="1800"/>
          </a:p>
        </p:txBody>
      </p:sp>
      <p:sp>
        <p:nvSpPr>
          <p:cNvPr id="21" name="Shape 21"/>
          <p:cNvSpPr txBox="1"/>
          <p:nvPr/>
        </p:nvSpPr>
        <p:spPr>
          <a:xfrm>
            <a:off x="1408176" y="3639312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危险或模糊动作停下来等待用户</a:t>
            </a:r>
            <a:endParaRPr lang="zh-CN" sz="1200"/>
          </a:p>
        </p:txBody>
      </p:sp>
      <p:sp>
        <p:nvSpPr>
          <p:cNvPr id="22" name="Shape 22"/>
          <p:cNvSpPr txBox="0"/>
          <p:nvPr/>
        </p:nvSpPr>
        <p:spPr>
          <a:xfrm>
            <a:off x="4498848" y="3108960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4700016" y="3310128"/>
            <a:ext cx="411480" cy="411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5</a:t>
            </a:r>
            <a:endParaRPr lang="zh-CN" sz="1400"/>
          </a:p>
        </p:txBody>
      </p:sp>
      <p:sp>
        <p:nvSpPr>
          <p:cNvPr id="24" name="Shape 24"/>
          <p:cNvSpPr txBox="1"/>
          <p:nvPr/>
        </p:nvSpPr>
        <p:spPr>
          <a:xfrm>
            <a:off x="5248656" y="3291840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查看证据</a:t>
            </a:r>
            <a:endParaRPr lang="zh-CN" sz="1800"/>
          </a:p>
        </p:txBody>
      </p:sp>
      <p:sp>
        <p:nvSpPr>
          <p:cNvPr id="25" name="Shape 25"/>
          <p:cNvSpPr txBox="1"/>
          <p:nvPr/>
        </p:nvSpPr>
        <p:spPr>
          <a:xfrm>
            <a:off x="5248656" y="3639312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进展、产物、文件变化、审批状态可见</a:t>
            </a:r>
            <a:endParaRPr lang="zh-CN" sz="1200"/>
          </a:p>
        </p:txBody>
      </p:sp>
      <p:sp>
        <p:nvSpPr>
          <p:cNvPr id="26" name="Shape 26"/>
          <p:cNvSpPr txBox="0"/>
          <p:nvPr/>
        </p:nvSpPr>
        <p:spPr>
          <a:xfrm>
            <a:off x="8339328" y="3108960"/>
            <a:ext cx="3520440" cy="107899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8540496" y="3310128"/>
            <a:ext cx="411480" cy="411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6</a:t>
            </a:r>
            <a:endParaRPr lang="zh-CN" sz="1400"/>
          </a:p>
        </p:txBody>
      </p:sp>
      <p:sp>
        <p:nvSpPr>
          <p:cNvPr id="28" name="Shape 28"/>
          <p:cNvSpPr txBox="1"/>
          <p:nvPr/>
        </p:nvSpPr>
        <p:spPr>
          <a:xfrm>
            <a:off x="9089136" y="3291840"/>
            <a:ext cx="2560320" cy="31089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结束或恢复</a:t>
            </a:r>
            <a:endParaRPr lang="zh-CN" sz="1800"/>
          </a:p>
        </p:txBody>
      </p:sp>
      <p:sp>
        <p:nvSpPr>
          <p:cNvPr id="29" name="Shape 29"/>
          <p:cNvSpPr txBox="1"/>
          <p:nvPr/>
        </p:nvSpPr>
        <p:spPr>
          <a:xfrm>
            <a:off x="9089136" y="3639312"/>
            <a:ext cx="2560320" cy="34747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结果可复查、可恢复、可重新进入</a:t>
            </a:r>
            <a:endParaRPr lang="zh-CN" sz="1200"/>
          </a:p>
        </p:txBody>
      </p:sp>
      <p:sp>
        <p:nvSpPr>
          <p:cNvPr id="30" name="Shape 30"/>
          <p:cNvSpPr txBox="1"/>
          <p:nvPr/>
        </p:nvSpPr>
        <p:spPr>
          <a:xfrm>
            <a:off x="868680" y="5815584"/>
            <a:ext cx="10515600" cy="40233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判断一个新功能是否值得做：它是否让这个循环更清楚、更可控、更容易恢复。</a:t>
            </a:r>
            <a:endParaRPr lang="zh-CN" sz="1300"/>
          </a:p>
        </p:txBody>
      </p:sp>
      <p:sp>
        <p:nvSpPr>
          <p:cNvPr id="31" name="Shape 31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docs/product-narrative.md</a:t>
            </a:r>
            <a:endParaRPr lang="zh-CN" sz="800"/>
          </a:p>
        </p:txBody>
      </p:sp>
      <p:sp>
        <p:nvSpPr>
          <p:cNvPr id="32" name="Shape 32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04</a:t>
            </a:r>
            <a:endParaRPr lang="zh-CN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工程边界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系统分层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822960" y="1207008"/>
            <a:ext cx="5577840" cy="694944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0"/>
          <p:nvPr/>
        </p:nvSpPr>
        <p:spPr>
          <a:xfrm>
            <a:off x="822960" y="1207008"/>
            <a:ext cx="109728" cy="694944"/>
          </a:xfrm>
          <a:prstGeom prst="rect">
            <a:avLst/>
          </a:prstGeom>
          <a:solidFill>
            <a:srgbClr val="4AA8FF"/>
          </a:solidFill>
          <a:ln w="9525">
            <a:solidFill>
              <a:srgbClr val="4AA8FF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152144" y="1325880"/>
            <a:ext cx="182880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Launcher</a:t>
            </a:r>
            <a:endParaRPr lang="zh-CN" sz="1600"/>
          </a:p>
        </p:txBody>
      </p:sp>
      <p:sp>
        <p:nvSpPr>
          <p:cNvPr id="9" name="Shape 9"/>
          <p:cNvSpPr txBox="1"/>
          <p:nvPr/>
        </p:nvSpPr>
        <p:spPr>
          <a:xfrm>
            <a:off x="3163824" y="1325880"/>
            <a:ext cx="356616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入口、搜索、路由、恢复当前任务</a:t>
            </a:r>
            <a:endParaRPr lang="zh-CN" sz="1200"/>
          </a:p>
        </p:txBody>
      </p:sp>
      <p:sp>
        <p:nvSpPr>
          <p:cNvPr id="10" name="Shape 10"/>
          <p:cNvSpPr txBox="0"/>
          <p:nvPr/>
        </p:nvSpPr>
        <p:spPr>
          <a:xfrm>
            <a:off x="822960" y="2084832"/>
            <a:ext cx="5577840" cy="694944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1" name="Shape 11"/>
          <p:cNvSpPr txBox="0"/>
          <p:nvPr/>
        </p:nvSpPr>
        <p:spPr>
          <a:xfrm>
            <a:off x="822960" y="2084832"/>
            <a:ext cx="109728" cy="694944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152144" y="2203704"/>
            <a:ext cx="182880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Ambient surfaces</a:t>
            </a:r>
            <a:endParaRPr lang="zh-CN" sz="1600"/>
          </a:p>
        </p:txBody>
      </p:sp>
      <p:sp>
        <p:nvSpPr>
          <p:cNvPr id="13" name="Shape 13"/>
          <p:cNvSpPr txBox="1"/>
          <p:nvPr/>
        </p:nvSpPr>
        <p:spPr>
          <a:xfrm>
            <a:off x="3163824" y="2203704"/>
            <a:ext cx="356616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菜单栏 / sentinel：压缩展示运行状态</a:t>
            </a:r>
            <a:endParaRPr lang="zh-CN" sz="1200"/>
          </a:p>
        </p:txBody>
      </p:sp>
      <p:sp>
        <p:nvSpPr>
          <p:cNvPr id="14" name="Shape 14"/>
          <p:cNvSpPr txBox="0"/>
          <p:nvPr/>
        </p:nvSpPr>
        <p:spPr>
          <a:xfrm>
            <a:off x="822960" y="2962656"/>
            <a:ext cx="5577840" cy="694944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5" name="Shape 15"/>
          <p:cNvSpPr txBox="0"/>
          <p:nvPr/>
        </p:nvSpPr>
        <p:spPr>
          <a:xfrm>
            <a:off x="822960" y="2962656"/>
            <a:ext cx="109728" cy="694944"/>
          </a:xfrm>
          <a:prstGeom prst="rect">
            <a:avLst/>
          </a:prstGeom>
          <a:solidFill>
            <a:srgbClr val="F2C94C"/>
          </a:solidFill>
          <a:ln w="9525">
            <a:solidFill>
              <a:srgbClr val="F2C94C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1152144" y="3081528"/>
            <a:ext cx="182880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Renderer feature runtimes</a:t>
            </a:r>
            <a:endParaRPr lang="zh-CN" sz="1600"/>
          </a:p>
        </p:txBody>
      </p:sp>
      <p:sp>
        <p:nvSpPr>
          <p:cNvPr id="17" name="Shape 17"/>
          <p:cNvSpPr txBox="1"/>
          <p:nvPr/>
        </p:nvSpPr>
        <p:spPr>
          <a:xfrm>
            <a:off x="3163824" y="3081528"/>
            <a:ext cx="356616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ai-core、extension-host、launcher-components</a:t>
            </a:r>
            <a:endParaRPr lang="zh-CN" sz="1200"/>
          </a:p>
        </p:txBody>
      </p:sp>
      <p:sp>
        <p:nvSpPr>
          <p:cNvPr id="18" name="Shape 18"/>
          <p:cNvSpPr txBox="0"/>
          <p:nvPr/>
        </p:nvSpPr>
        <p:spPr>
          <a:xfrm>
            <a:off x="822960" y="3840480"/>
            <a:ext cx="5577840" cy="694944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9" name="Shape 19"/>
          <p:cNvSpPr txBox="0"/>
          <p:nvPr/>
        </p:nvSpPr>
        <p:spPr>
          <a:xfrm>
            <a:off x="822960" y="3840480"/>
            <a:ext cx="109728" cy="694944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152144" y="3959352"/>
            <a:ext cx="182880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Main process runtime &amp; services</a:t>
            </a:r>
            <a:endParaRPr lang="zh-CN" sz="1600"/>
          </a:p>
        </p:txBody>
      </p:sp>
      <p:sp>
        <p:nvSpPr>
          <p:cNvPr id="21" name="Shape 21"/>
          <p:cNvSpPr txBox="1"/>
          <p:nvPr/>
        </p:nvSpPr>
        <p:spPr>
          <a:xfrm>
            <a:off x="3163824" y="3959352"/>
            <a:ext cx="356616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Agent 执行、窗口服务、搜索、guardrails</a:t>
            </a:r>
            <a:endParaRPr lang="zh-CN" sz="1200"/>
          </a:p>
        </p:txBody>
      </p:sp>
      <p:sp>
        <p:nvSpPr>
          <p:cNvPr id="22" name="Shape 22"/>
          <p:cNvSpPr txBox="0"/>
          <p:nvPr/>
        </p:nvSpPr>
        <p:spPr>
          <a:xfrm>
            <a:off x="822960" y="4718304"/>
            <a:ext cx="5577840" cy="694944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23" name="Shape 23"/>
          <p:cNvSpPr txBox="0"/>
          <p:nvPr/>
        </p:nvSpPr>
        <p:spPr>
          <a:xfrm>
            <a:off x="822960" y="4718304"/>
            <a:ext cx="109728" cy="694944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1152144" y="4837176"/>
            <a:ext cx="182880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Harness persistence</a:t>
            </a:r>
            <a:endParaRPr lang="zh-CN" sz="1600"/>
          </a:p>
        </p:txBody>
      </p:sp>
      <p:sp>
        <p:nvSpPr>
          <p:cNvPr id="25" name="Shape 25"/>
          <p:cNvSpPr txBox="1"/>
          <p:nvPr/>
        </p:nvSpPr>
        <p:spPr>
          <a:xfrm>
            <a:off x="3163824" y="4837176"/>
            <a:ext cx="356616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threads、runs、HITL、artifacts、checkpoints</a:t>
            </a:r>
            <a:endParaRPr lang="zh-CN" sz="1200"/>
          </a:p>
        </p:txBody>
      </p:sp>
      <p:sp>
        <p:nvSpPr>
          <p:cNvPr id="26" name="Shape 26"/>
          <p:cNvSpPr txBox="0"/>
          <p:nvPr/>
        </p:nvSpPr>
        <p:spPr>
          <a:xfrm>
            <a:off x="6967728" y="1353312"/>
            <a:ext cx="4407408" cy="4005072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7296912" y="1664208"/>
            <a:ext cx="3794760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关键约束</a:t>
            </a:r>
            <a:endParaRPr lang="zh-CN" sz="2400"/>
          </a:p>
        </p:txBody>
      </p:sp>
      <p:sp>
        <p:nvSpPr>
          <p:cNvPr id="28" name="Shape 28"/>
          <p:cNvSpPr txBox="1"/>
          <p:nvPr/>
        </p:nvSpPr>
        <p:spPr>
          <a:xfrm>
            <a:off x="7296912" y="2267712"/>
            <a:ext cx="3657600" cy="22128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Launcher 是入口 shell，不拥有长期 run truth</a:t>
            </a:r>
            <a:endParaRPr lang="zh-CN" sz="1500"/>
          </a:p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Main process 是 durable execution state 的权威来源</a:t>
            </a:r>
            <a:endParaRPr lang="zh-CN" sz="1500"/>
          </a:p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Extension 只能通过稳定 host API 接入</a:t>
            </a:r>
            <a:endParaRPr lang="zh-CN" sz="1500"/>
          </a:p>
          <a:p>
            <a:pPr algn="l" marL="164592" indent="-109728">
              <a:buChar char="•"/>
            </a:pPr>
            <a:r>
              <a:rPr lang="zh-CN" sz="15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Renderer 不发明本该持久化的真实状态</a:t>
            </a:r>
            <a:endParaRPr lang="zh-CN" sz="1500"/>
          </a:p>
        </p:txBody>
      </p:sp>
      <p:sp>
        <p:nvSpPr>
          <p:cNvPr id="29" name="Shape 29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docs/engineering-boundaries.md</a:t>
            </a:r>
            <a:endParaRPr lang="zh-CN" sz="800"/>
          </a:p>
        </p:txBody>
      </p:sp>
      <p:sp>
        <p:nvSpPr>
          <p:cNvPr id="30" name="Shape 30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05</a:t>
            </a:r>
            <a:endParaRPr lang="zh-CN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架构落点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Main Process 是执行真相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749808" y="1353312"/>
            <a:ext cx="5248656" cy="4425696"/>
          </a:xfrm>
          <a:prstGeom prst="roundRect">
            <a:avLst/>
          </a:prstGeom>
          <a:solidFill>
            <a:srgbClr val="0B0E13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24128" y="1645920"/>
            <a:ext cx="4700016" cy="384048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MainCompositionRoot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├─ registerAgentIpcHandlers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├─ registerArtifactsIpcHandlers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├─ registerLauncherIpcHandlers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├─ registerModelProviderIpcHandlers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├─ registerThreadsIpcHandlers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└─ registerExtensionRuntimeIpcHandlers</a:t>
            </a:r>
            <a:endParaRPr lang="zh-CN" sz="1200"/>
          </a:p>
        </p:txBody>
      </p:sp>
      <p:sp>
        <p:nvSpPr>
          <p:cNvPr id="8" name="Shape 8"/>
          <p:cNvSpPr txBox="1"/>
          <p:nvPr/>
        </p:nvSpPr>
        <p:spPr>
          <a:xfrm>
            <a:off x="6446520" y="1353312"/>
            <a:ext cx="4956048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运行开始：beginAgentRun 持久化 Run，并向 renderer 发 run_started</a:t>
            </a:r>
            <a:endParaRPr lang="zh-CN" sz="1400"/>
          </a:p>
        </p:txBody>
      </p:sp>
      <p:sp>
        <p:nvSpPr>
          <p:cNvPr id="9" name="Shape 9"/>
          <p:cNvSpPr txBox="1"/>
          <p:nvPr/>
        </p:nvSpPr>
        <p:spPr>
          <a:xfrm>
            <a:off x="6446520" y="2697480"/>
            <a:ext cx="4956048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流式执行：stream chunks 被投影后通过 IPC 发送</a:t>
            </a:r>
            <a:endParaRPr lang="zh-CN" sz="1400"/>
          </a:p>
        </p:txBody>
      </p:sp>
      <p:sp>
        <p:nvSpPr>
          <p:cNvPr id="10" name="Shape 10"/>
          <p:cNvSpPr txBox="1"/>
          <p:nvPr/>
        </p:nvSpPr>
        <p:spPr>
          <a:xfrm>
            <a:off x="6446520" y="4041648"/>
            <a:ext cx="4956048" cy="109728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收束状态：success / interrupted / error / aborted 归入 durable state</a:t>
            </a:r>
            <a:endParaRPr lang="zh-CN" sz="1400"/>
          </a:p>
        </p:txBody>
      </p:sp>
      <p:sp>
        <p:nvSpPr>
          <p:cNvPr id="11" name="Shape 11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src/main/composition-root.ts / src/main/agent/service.ts</a:t>
            </a:r>
            <a:endParaRPr lang="zh-CN" sz="800"/>
          </a:p>
        </p:txBody>
      </p:sp>
      <p:sp>
        <p:nvSpPr>
          <p:cNvPr id="12" name="Shape 12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06</a:t>
            </a:r>
            <a:endParaRPr lang="zh-CN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执行引擎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Agent Runtime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71323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4AA8FF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85953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Model</a:t>
            </a:r>
            <a:endParaRPr lang="zh-CN" sz="1500"/>
          </a:p>
        </p:txBody>
      </p:sp>
      <p:sp>
        <p:nvSpPr>
          <p:cNvPr id="8" name="Shape 8"/>
          <p:cNvSpPr txBox="1"/>
          <p:nvPr/>
        </p:nvSpPr>
        <p:spPr>
          <a:xfrm>
            <a:off x="85953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Anthropic / OpenAI / Google</a:t>
            </a:r>
            <a:endParaRPr lang="zh-CN" sz="900"/>
          </a:p>
        </p:txBody>
      </p:sp>
      <p:sp>
        <p:nvSpPr>
          <p:cNvPr id="9" name="Shape 9"/>
          <p:cNvSpPr txBox="0"/>
          <p:nvPr/>
        </p:nvSpPr>
        <p:spPr>
          <a:xfrm>
            <a:off x="221284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0" name="Shape 10"/>
          <p:cNvSpPr txBox="0"/>
          <p:nvPr/>
        </p:nvSpPr>
        <p:spPr>
          <a:xfrm>
            <a:off x="235915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DDC9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250545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Workspace</a:t>
            </a:r>
            <a:endParaRPr lang="zh-CN" sz="1500"/>
          </a:p>
        </p:txBody>
      </p:sp>
      <p:sp>
        <p:nvSpPr>
          <p:cNvPr id="12" name="Shape 12"/>
          <p:cNvSpPr txBox="1"/>
          <p:nvPr/>
        </p:nvSpPr>
        <p:spPr>
          <a:xfrm>
            <a:off x="250545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LocalSandbox + filesystem tools</a:t>
            </a:r>
            <a:endParaRPr lang="zh-CN" sz="900"/>
          </a:p>
        </p:txBody>
      </p:sp>
      <p:sp>
        <p:nvSpPr>
          <p:cNvPr id="13" name="Shape 13"/>
          <p:cNvSpPr txBox="0"/>
          <p:nvPr/>
        </p:nvSpPr>
        <p:spPr>
          <a:xfrm>
            <a:off x="385876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4" name="Shape 14"/>
          <p:cNvSpPr txBox="0"/>
          <p:nvPr/>
        </p:nvSpPr>
        <p:spPr>
          <a:xfrm>
            <a:off x="400507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2C94C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415137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Middleware</a:t>
            </a:r>
            <a:endParaRPr lang="zh-CN" sz="1500"/>
          </a:p>
        </p:txBody>
      </p:sp>
      <p:sp>
        <p:nvSpPr>
          <p:cNvPr id="16" name="Shape 16"/>
          <p:cNvSpPr txBox="1"/>
          <p:nvPr/>
        </p:nvSpPr>
        <p:spPr>
          <a:xfrm>
            <a:off x="415137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todos / artifacts / web / desktop automation</a:t>
            </a:r>
            <a:endParaRPr lang="zh-CN" sz="900"/>
          </a:p>
        </p:txBody>
      </p:sp>
      <p:sp>
        <p:nvSpPr>
          <p:cNvPr id="17" name="Shape 17"/>
          <p:cNvSpPr txBox="0"/>
          <p:nvPr/>
        </p:nvSpPr>
        <p:spPr>
          <a:xfrm>
            <a:off x="550468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8" name="Shape 18"/>
          <p:cNvSpPr txBox="0"/>
          <p:nvPr/>
        </p:nvSpPr>
        <p:spPr>
          <a:xfrm>
            <a:off x="565099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9F43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79729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Extensions</a:t>
            </a:r>
            <a:endParaRPr lang="zh-CN" sz="1500"/>
          </a:p>
        </p:txBody>
      </p:sp>
      <p:sp>
        <p:nvSpPr>
          <p:cNvPr id="20" name="Shape 20"/>
          <p:cNvSpPr txBox="1"/>
          <p:nvPr/>
        </p:nvSpPr>
        <p:spPr>
          <a:xfrm>
            <a:off x="579729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native extension source tools</a:t>
            </a:r>
            <a:endParaRPr lang="zh-CN" sz="900"/>
          </a:p>
        </p:txBody>
      </p:sp>
      <p:sp>
        <p:nvSpPr>
          <p:cNvPr id="21" name="Shape 21"/>
          <p:cNvSpPr txBox="0"/>
          <p:nvPr/>
        </p:nvSpPr>
        <p:spPr>
          <a:xfrm>
            <a:off x="715060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22" name="Shape 22"/>
          <p:cNvSpPr txBox="0"/>
          <p:nvPr/>
        </p:nvSpPr>
        <p:spPr>
          <a:xfrm>
            <a:off x="729691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4B4B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744321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Guardrails</a:t>
            </a:r>
            <a:endParaRPr lang="zh-CN" sz="1500"/>
          </a:p>
        </p:txBody>
      </p:sp>
      <p:sp>
        <p:nvSpPr>
          <p:cNvPr id="24" name="Shape 24"/>
          <p:cNvSpPr txBox="1"/>
          <p:nvPr/>
        </p:nvSpPr>
        <p:spPr>
          <a:xfrm>
            <a:off x="744321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mutation prediction + command classification</a:t>
            </a:r>
            <a:endParaRPr lang="zh-CN" sz="900"/>
          </a:p>
        </p:txBody>
      </p:sp>
      <p:sp>
        <p:nvSpPr>
          <p:cNvPr id="25" name="Shape 25"/>
          <p:cNvSpPr txBox="0"/>
          <p:nvPr/>
        </p:nvSpPr>
        <p:spPr>
          <a:xfrm>
            <a:off x="879652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26" name="Shape 26"/>
          <p:cNvSpPr txBox="0"/>
          <p:nvPr/>
        </p:nvSpPr>
        <p:spPr>
          <a:xfrm>
            <a:off x="894283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A78BFA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908913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Approval</a:t>
            </a:r>
            <a:endParaRPr lang="zh-CN" sz="1500"/>
          </a:p>
        </p:txBody>
      </p:sp>
      <p:sp>
        <p:nvSpPr>
          <p:cNvPr id="28" name="Shape 28"/>
          <p:cNvSpPr txBox="1"/>
          <p:nvPr/>
        </p:nvSpPr>
        <p:spPr>
          <a:xfrm>
            <a:off x="908913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tool approval middleware + HITL</a:t>
            </a:r>
            <a:endParaRPr lang="zh-CN" sz="900"/>
          </a:p>
        </p:txBody>
      </p:sp>
      <p:sp>
        <p:nvSpPr>
          <p:cNvPr id="29" name="Shape 29"/>
          <p:cNvSpPr txBox="0"/>
          <p:nvPr/>
        </p:nvSpPr>
        <p:spPr>
          <a:xfrm>
            <a:off x="10442448" y="2039112"/>
            <a:ext cx="128016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30" name="Shape 30"/>
          <p:cNvSpPr txBox="0"/>
          <p:nvPr/>
        </p:nvSpPr>
        <p:spPr>
          <a:xfrm>
            <a:off x="10588752" y="1389888"/>
            <a:ext cx="1481328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4AA8FF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10735056" y="1591056"/>
            <a:ext cx="11887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Checkpoint</a:t>
            </a:r>
            <a:endParaRPr lang="zh-CN" sz="1500"/>
          </a:p>
        </p:txBody>
      </p:sp>
      <p:sp>
        <p:nvSpPr>
          <p:cNvPr id="32" name="Shape 32"/>
          <p:cNvSpPr txBox="1"/>
          <p:nvPr/>
        </p:nvSpPr>
        <p:spPr>
          <a:xfrm>
            <a:off x="10735056" y="2029968"/>
            <a:ext cx="1188720" cy="42062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PrismaCheckpointSaver</a:t>
            </a:r>
            <a:endParaRPr lang="zh-CN" sz="900"/>
          </a:p>
        </p:txBody>
      </p:sp>
      <p:sp>
        <p:nvSpPr>
          <p:cNvPr id="33" name="Shape 33"/>
          <p:cNvSpPr txBox="1"/>
          <p:nvPr/>
        </p:nvSpPr>
        <p:spPr>
          <a:xfrm>
            <a:off x="822960" y="5230368"/>
            <a:ext cx="10698480" cy="7132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工程重点：不是把工具简单塞给模型，而是在工具调用前后建立权限、审批、序列化、产物展示和恢复语义。</a:t>
            </a:r>
            <a:endParaRPr lang="zh-CN" sz="1900"/>
          </a:p>
        </p:txBody>
      </p:sp>
      <p:sp>
        <p:nvSpPr>
          <p:cNvPr id="34" name="Shape 34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src/main/agent/runtime.ts</a:t>
            </a:r>
            <a:endParaRPr lang="zh-CN" sz="800"/>
          </a:p>
        </p:txBody>
      </p:sp>
      <p:sp>
        <p:nvSpPr>
          <p:cNvPr id="35" name="Shape 35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07</a:t>
            </a:r>
            <a:endParaRPr lang="zh-CN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安全模型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审批不是摩擦，是信任基础设施</a:t>
            </a:r>
            <a:endParaRPr lang="zh-CN" sz="3000"/>
          </a:p>
        </p:txBody>
      </p:sp>
      <p:sp>
        <p:nvSpPr>
          <p:cNvPr id="6" name="Shape 6"/>
          <p:cNvSpPr txBox="1"/>
          <p:nvPr/>
        </p:nvSpPr>
        <p:spPr>
          <a:xfrm>
            <a:off x="786384" y="1298448"/>
            <a:ext cx="3337560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4B4B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Before execution</a:t>
            </a:r>
            <a:endParaRPr lang="zh-CN" sz="1400"/>
          </a:p>
        </p:txBody>
      </p:sp>
      <p:sp>
        <p:nvSpPr>
          <p:cNvPr id="7" name="Shape 7"/>
          <p:cNvSpPr txBox="1"/>
          <p:nvPr/>
        </p:nvSpPr>
        <p:spPr>
          <a:xfrm>
            <a:off x="4443984" y="1298448"/>
            <a:ext cx="3337560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Persist HITL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8101584" y="1298448"/>
            <a:ext cx="3337560" cy="129844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Resume by decision</a:t>
            </a:r>
            <a:endParaRPr lang="zh-CN" sz="1400"/>
          </a:p>
        </p:txBody>
      </p:sp>
      <p:sp>
        <p:nvSpPr>
          <p:cNvPr id="9" name="Shape 9"/>
          <p:cNvSpPr txBox="0"/>
          <p:nvPr/>
        </p:nvSpPr>
        <p:spPr>
          <a:xfrm>
            <a:off x="4114800" y="1938528"/>
            <a:ext cx="292608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0" name="Shape 10"/>
          <p:cNvSpPr txBox="0"/>
          <p:nvPr/>
        </p:nvSpPr>
        <p:spPr>
          <a:xfrm>
            <a:off x="7772400" y="1938528"/>
            <a:ext cx="292608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960120" y="3090672"/>
            <a:ext cx="4681728" cy="160020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approve / reject / edit 是显式决策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request_id 和 tool_call_id 负责把 UI 审批与真实执行关联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renderer 刷新或重新打开后，pending approval 仍可找回</a:t>
            </a:r>
            <a:endParaRPr lang="zh-CN" sz="1600"/>
          </a:p>
        </p:txBody>
      </p:sp>
      <p:sp>
        <p:nvSpPr>
          <p:cNvPr id="12" name="Shape 12"/>
          <p:cNvSpPr txBox="0"/>
          <p:nvPr/>
        </p:nvSpPr>
        <p:spPr>
          <a:xfrm>
            <a:off x="6089904" y="2852928"/>
            <a:ext cx="4974336" cy="2212848"/>
          </a:xfrm>
          <a:prstGeom prst="roundRect">
            <a:avLst/>
          </a:prstGeom>
          <a:solidFill>
            <a:srgbClr val="0B0E13"/>
          </a:solidFill>
          <a:ln w="9525">
            <a:solidFill>
              <a:srgbClr val="313A49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364224" y="3145536"/>
            <a:ext cx="4425696" cy="16276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HitlRequest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request_id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thread_id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run_id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tool_call_id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allowed_decisions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status = pending | approved | rejected</a:t>
            </a:r>
            <a:endParaRPr lang="zh-CN" sz="1200"/>
          </a:p>
        </p:txBody>
      </p:sp>
      <p:sp>
        <p:nvSpPr>
          <p:cNvPr id="14" name="Shape 14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docs/runtime-invariants.md / src/main/agent/service.ts</a:t>
            </a:r>
            <a:endParaRPr lang="zh-CN" sz="800"/>
          </a:p>
        </p:txBody>
      </p:sp>
      <p:sp>
        <p:nvSpPr>
          <p:cNvPr id="15" name="Shape 15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08</a:t>
            </a:r>
            <a:endParaRPr lang="zh-CN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数据模型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持久化就是 Harness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822960" y="1499616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4AA8FF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987552" y="166420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Thread</a:t>
            </a:r>
            <a:endParaRPr lang="zh-CN" sz="1500"/>
          </a:p>
        </p:txBody>
      </p:sp>
      <p:sp>
        <p:nvSpPr>
          <p:cNvPr id="8" name="Shape 8"/>
          <p:cNvSpPr txBox="1"/>
          <p:nvPr/>
        </p:nvSpPr>
        <p:spPr>
          <a:xfrm>
            <a:off x="987552" y="202996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会话与 checkpoint 容器</a:t>
            </a:r>
            <a:endParaRPr lang="zh-CN" sz="900"/>
          </a:p>
        </p:txBody>
      </p:sp>
      <p:sp>
        <p:nvSpPr>
          <p:cNvPr id="9" name="Shape 9"/>
          <p:cNvSpPr txBox="0"/>
          <p:nvPr/>
        </p:nvSpPr>
        <p:spPr>
          <a:xfrm>
            <a:off x="3657600" y="1499616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4B4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3822192" y="166420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Run</a:t>
            </a:r>
            <a:endParaRPr lang="zh-CN" sz="1500"/>
          </a:p>
        </p:txBody>
      </p:sp>
      <p:sp>
        <p:nvSpPr>
          <p:cNvPr id="11" name="Shape 11"/>
          <p:cNvSpPr txBox="1"/>
          <p:nvPr/>
        </p:nvSpPr>
        <p:spPr>
          <a:xfrm>
            <a:off x="3822192" y="202996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一次执行生命周期</a:t>
            </a:r>
            <a:endParaRPr lang="zh-CN" sz="900"/>
          </a:p>
        </p:txBody>
      </p:sp>
      <p:sp>
        <p:nvSpPr>
          <p:cNvPr id="12" name="Shape 12"/>
          <p:cNvSpPr txBox="0"/>
          <p:nvPr/>
        </p:nvSpPr>
        <p:spPr>
          <a:xfrm>
            <a:off x="6492240" y="1499616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2C94C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656832" y="166420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HitlRequest</a:t>
            </a:r>
            <a:endParaRPr lang="zh-CN" sz="1500"/>
          </a:p>
        </p:txBody>
      </p:sp>
      <p:sp>
        <p:nvSpPr>
          <p:cNvPr id="14" name="Shape 14"/>
          <p:cNvSpPr txBox="1"/>
          <p:nvPr/>
        </p:nvSpPr>
        <p:spPr>
          <a:xfrm>
            <a:off x="6656832" y="202996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审批状态</a:t>
            </a:r>
            <a:endParaRPr lang="zh-CN" sz="900"/>
          </a:p>
        </p:txBody>
      </p:sp>
      <p:sp>
        <p:nvSpPr>
          <p:cNvPr id="15" name="Shape 15"/>
          <p:cNvSpPr txBox="0"/>
          <p:nvPr/>
        </p:nvSpPr>
        <p:spPr>
          <a:xfrm>
            <a:off x="9326880" y="1499616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DDC97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9491472" y="166420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Artifact</a:t>
            </a:r>
            <a:endParaRPr lang="zh-CN" sz="1500"/>
          </a:p>
        </p:txBody>
      </p:sp>
      <p:sp>
        <p:nvSpPr>
          <p:cNvPr id="17" name="Shape 17"/>
          <p:cNvSpPr txBox="1"/>
          <p:nvPr/>
        </p:nvSpPr>
        <p:spPr>
          <a:xfrm>
            <a:off x="9491472" y="2029968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用户可见产物</a:t>
            </a:r>
            <a:endParaRPr lang="zh-CN" sz="900"/>
          </a:p>
        </p:txBody>
      </p:sp>
      <p:sp>
        <p:nvSpPr>
          <p:cNvPr id="18" name="Shape 18"/>
          <p:cNvSpPr txBox="0"/>
          <p:nvPr/>
        </p:nvSpPr>
        <p:spPr>
          <a:xfrm>
            <a:off x="2249424" y="3218688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A78BFA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2414016" y="338328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Checkpoint</a:t>
            </a:r>
            <a:endParaRPr lang="zh-CN" sz="1500"/>
          </a:p>
        </p:txBody>
      </p:sp>
      <p:sp>
        <p:nvSpPr>
          <p:cNvPr id="20" name="Shape 20"/>
          <p:cNvSpPr txBox="1"/>
          <p:nvPr/>
        </p:nvSpPr>
        <p:spPr>
          <a:xfrm>
            <a:off x="2414016" y="374904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恢复状态</a:t>
            </a:r>
            <a:endParaRPr lang="zh-CN" sz="900"/>
          </a:p>
        </p:txBody>
      </p:sp>
      <p:sp>
        <p:nvSpPr>
          <p:cNvPr id="21" name="Shape 21"/>
          <p:cNvSpPr txBox="0"/>
          <p:nvPr/>
        </p:nvSpPr>
        <p:spPr>
          <a:xfrm>
            <a:off x="5413248" y="3218688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FF9F43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5577840" y="338328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SessionBinding</a:t>
            </a:r>
            <a:endParaRPr lang="zh-CN" sz="1500"/>
          </a:p>
        </p:txBody>
      </p:sp>
      <p:sp>
        <p:nvSpPr>
          <p:cNvPr id="23" name="Shape 23"/>
          <p:cNvSpPr txBox="1"/>
          <p:nvPr/>
        </p:nvSpPr>
        <p:spPr>
          <a:xfrm>
            <a:off x="5577840" y="374904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workspace 与 current thread</a:t>
            </a:r>
            <a:endParaRPr lang="zh-CN" sz="900"/>
          </a:p>
        </p:txBody>
      </p:sp>
      <p:sp>
        <p:nvSpPr>
          <p:cNvPr id="24" name="Shape 24"/>
          <p:cNvSpPr txBox="0"/>
          <p:nvPr/>
        </p:nvSpPr>
        <p:spPr>
          <a:xfrm>
            <a:off x="8577072" y="3218688"/>
            <a:ext cx="2121408" cy="1005840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A78BFA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8741664" y="338328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b="1" lang="zh-CN" sz="15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CheckpointWrite</a:t>
            </a:r>
            <a:endParaRPr lang="zh-CN" sz="1500"/>
          </a:p>
        </p:txBody>
      </p:sp>
      <p:sp>
        <p:nvSpPr>
          <p:cNvPr id="26" name="Shape 26"/>
          <p:cNvSpPr txBox="1"/>
          <p:nvPr/>
        </p:nvSpPr>
        <p:spPr>
          <a:xfrm>
            <a:off x="8741664" y="3749040"/>
            <a:ext cx="1792224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center"/>
            <a:r>
              <a:rPr lang="zh-CN" sz="9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checkpoint writes</a:t>
            </a:r>
            <a:endParaRPr lang="zh-CN" sz="900"/>
          </a:p>
        </p:txBody>
      </p:sp>
      <p:sp>
        <p:nvSpPr>
          <p:cNvPr id="27" name="Shape 27"/>
          <p:cNvSpPr txBox="0"/>
          <p:nvPr/>
        </p:nvSpPr>
        <p:spPr>
          <a:xfrm>
            <a:off x="2944368" y="1993392"/>
            <a:ext cx="566928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28" name="Shape 28"/>
          <p:cNvSpPr txBox="0"/>
          <p:nvPr/>
        </p:nvSpPr>
        <p:spPr>
          <a:xfrm>
            <a:off x="5779008" y="1993392"/>
            <a:ext cx="566928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29" name="Shape 29"/>
          <p:cNvSpPr txBox="0"/>
          <p:nvPr/>
        </p:nvSpPr>
        <p:spPr>
          <a:xfrm>
            <a:off x="8613648" y="1993392"/>
            <a:ext cx="566928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30" name="Shape 30"/>
          <p:cNvSpPr txBox="0"/>
          <p:nvPr/>
        </p:nvSpPr>
        <p:spPr>
          <a:xfrm>
            <a:off x="3310128" y="2816352"/>
            <a:ext cx="1097280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31" name="Shape 31"/>
          <p:cNvSpPr txBox="0"/>
          <p:nvPr/>
        </p:nvSpPr>
        <p:spPr>
          <a:xfrm>
            <a:off x="6473952" y="2816352"/>
            <a:ext cx="1097280" cy="2286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32" name="Shape 32"/>
          <p:cNvSpPr txBox="1"/>
          <p:nvPr/>
        </p:nvSpPr>
        <p:spPr>
          <a:xfrm>
            <a:off x="841248" y="5650992"/>
            <a:ext cx="10515600" cy="47548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这套数据模型服务于一个产品承诺：run 不只是一次临时请求，而是一段可审计、可恢复的软件工作记录。</a:t>
            </a:r>
            <a:endParaRPr lang="zh-CN" sz="1400"/>
          </a:p>
        </p:txBody>
      </p:sp>
      <p:sp>
        <p:nvSpPr>
          <p:cNvPr id="33" name="Shape 33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prisma/schema.prisma / docs/runtime-invariants.md</a:t>
            </a:r>
            <a:endParaRPr lang="zh-CN" sz="800"/>
          </a:p>
        </p:txBody>
      </p:sp>
      <p:sp>
        <p:nvSpPr>
          <p:cNvPr id="34" name="Shape 34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09</a:t>
            </a:r>
            <a:endParaRPr lang="zh-CN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入口与生态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Launcher 与 Extension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786384" y="1353312"/>
            <a:ext cx="5029200" cy="38587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78992" y="1664208"/>
            <a:ext cx="4407408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400">
                <a:solidFill>
                  <a:srgbClr val="4AA8FF"/>
                </a:solidFill>
                <a:latin typeface="Aptos"/>
                <a:ea typeface="PingFang SC"/>
                <a:cs typeface="Aptos"/>
              </a:rPr>
              <a:t>Launcher owns</a:t>
            </a:r>
            <a:endParaRPr lang="zh-CN" sz="2400"/>
          </a:p>
        </p:txBody>
      </p:sp>
      <p:sp>
        <p:nvSpPr>
          <p:cNvPr id="8" name="Shape 8"/>
          <p:cNvSpPr txBox="1"/>
          <p:nvPr/>
        </p:nvSpPr>
        <p:spPr>
          <a:xfrm>
            <a:off x="1078992" y="2249424"/>
            <a:ext cx="4370832" cy="206654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show / hide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home search input and result selection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打开内置命令或 extension command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返回历史和当前工作</a:t>
            </a:r>
            <a:endParaRPr lang="zh-CN" sz="1600"/>
          </a:p>
        </p:txBody>
      </p:sp>
      <p:sp>
        <p:nvSpPr>
          <p:cNvPr id="9" name="Shape 9"/>
          <p:cNvSpPr txBox="0"/>
          <p:nvPr/>
        </p:nvSpPr>
        <p:spPr>
          <a:xfrm>
            <a:off x="6364224" y="1353312"/>
            <a:ext cx="5029200" cy="38587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656832" y="1664208"/>
            <a:ext cx="4407408" cy="38404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2400">
                <a:solidFill>
                  <a:srgbClr val="3DDC97"/>
                </a:solidFill>
                <a:latin typeface="Aptos"/>
                <a:ea typeface="PingFang SC"/>
                <a:cs typeface="Aptos"/>
              </a:rPr>
              <a:t>Extension contributes</a:t>
            </a:r>
            <a:endParaRPr lang="zh-CN" sz="2400"/>
          </a:p>
        </p:txBody>
      </p:sp>
      <p:sp>
        <p:nvSpPr>
          <p:cNvPr id="11" name="Shape 11"/>
          <p:cNvSpPr txBox="1"/>
          <p:nvPr/>
        </p:nvSpPr>
        <p:spPr>
          <a:xfrm>
            <a:off x="6656832" y="2249424"/>
            <a:ext cx="4370832" cy="206654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稳定 runtime API：List / Form / Detail / AI / MenuBar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manifest 声明 capabilities、preferences、commands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GitHub、Reminders、Translate、Todo 等集成</a:t>
            </a:r>
            <a:endParaRPr lang="zh-CN" sz="1600"/>
          </a:p>
          <a:p>
            <a:pPr algn="l" marL="164592" indent="-109728">
              <a:buChar char="•"/>
            </a:pPr>
            <a:r>
              <a:rPr lang="zh-CN" sz="16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view / no-view / menu-bar 等命令形态</a:t>
            </a:r>
            <a:endParaRPr lang="zh-CN" sz="1600"/>
          </a:p>
        </p:txBody>
      </p:sp>
      <p:sp>
        <p:nvSpPr>
          <p:cNvPr id="12" name="Shape 12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src/renderer/src/launcher-shell/LauncherApp.tsx / src/extensions/github/manifest.ts</a:t>
            </a:r>
            <a:endParaRPr lang="zh-CN" sz="800"/>
          </a:p>
        </p:txBody>
      </p:sp>
      <p:sp>
        <p:nvSpPr>
          <p:cNvPr id="13" name="Shape 13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10</a:t>
            </a:r>
            <a:endParaRPr lang="zh-CN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讲解路径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一次分享该怎么演示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1225296" y="1719072"/>
            <a:ext cx="9144" cy="4114800"/>
          </a:xfrm>
          <a:prstGeom prst="rect">
            <a:avLst/>
          </a:prstGeom>
          <a:solidFill>
            <a:srgbClr val="697386"/>
          </a:solidFill>
          <a:ln w="9525">
            <a:solidFill>
              <a:srgbClr val="697386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914400" y="1499616"/>
            <a:ext cx="621792" cy="42062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01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1792224" y="1490472"/>
            <a:ext cx="2560320" cy="2743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7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选 workspace</a:t>
            </a:r>
            <a:endParaRPr lang="zh-CN" sz="1700"/>
          </a:p>
        </p:txBody>
      </p:sp>
      <p:sp>
        <p:nvSpPr>
          <p:cNvPr id="9" name="Shape 9"/>
          <p:cNvSpPr txBox="1"/>
          <p:nvPr/>
        </p:nvSpPr>
        <p:spPr>
          <a:xfrm>
            <a:off x="4041648" y="1499616"/>
            <a:ext cx="41605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强调 Agent 的执行边界从工作目录开始</a:t>
            </a:r>
            <a:endParaRPr lang="zh-CN" sz="1300"/>
          </a:p>
        </p:txBody>
      </p:sp>
      <p:sp>
        <p:nvSpPr>
          <p:cNvPr id="10" name="Shape 10"/>
          <p:cNvSpPr txBox="1"/>
          <p:nvPr/>
        </p:nvSpPr>
        <p:spPr>
          <a:xfrm>
            <a:off x="914400" y="2286000"/>
            <a:ext cx="621792" cy="42062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02</a:t>
            </a:r>
            <a:endParaRPr lang="zh-CN" sz="1400"/>
          </a:p>
        </p:txBody>
      </p:sp>
      <p:sp>
        <p:nvSpPr>
          <p:cNvPr id="11" name="Shape 11"/>
          <p:cNvSpPr txBox="1"/>
          <p:nvPr/>
        </p:nvSpPr>
        <p:spPr>
          <a:xfrm>
            <a:off x="1792224" y="2276856"/>
            <a:ext cx="2560320" cy="2743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7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输入一个具体软件目标</a:t>
            </a:r>
            <a:endParaRPr lang="zh-CN" sz="1700"/>
          </a:p>
        </p:txBody>
      </p:sp>
      <p:sp>
        <p:nvSpPr>
          <p:cNvPr id="12" name="Shape 12"/>
          <p:cNvSpPr txBox="1"/>
          <p:nvPr/>
        </p:nvSpPr>
        <p:spPr>
          <a:xfrm>
            <a:off x="4041648" y="2286000"/>
            <a:ext cx="41605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让需求进入 thread/run，而不是散落在聊天里</a:t>
            </a:r>
            <a:endParaRPr lang="zh-CN" sz="1300"/>
          </a:p>
        </p:txBody>
      </p:sp>
      <p:sp>
        <p:nvSpPr>
          <p:cNvPr id="13" name="Shape 13"/>
          <p:cNvSpPr txBox="1"/>
          <p:nvPr/>
        </p:nvSpPr>
        <p:spPr>
          <a:xfrm>
            <a:off x="914400" y="3072384"/>
            <a:ext cx="621792" cy="42062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03</a:t>
            </a:r>
            <a:endParaRPr lang="zh-CN" sz="1400"/>
          </a:p>
        </p:txBody>
      </p:sp>
      <p:sp>
        <p:nvSpPr>
          <p:cNvPr id="14" name="Shape 14"/>
          <p:cNvSpPr txBox="1"/>
          <p:nvPr/>
        </p:nvSpPr>
        <p:spPr>
          <a:xfrm>
            <a:off x="1792224" y="3063240"/>
            <a:ext cx="2560320" cy="2743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7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观察计划和执行流</a:t>
            </a:r>
            <a:endParaRPr lang="zh-CN" sz="1700"/>
          </a:p>
        </p:txBody>
      </p:sp>
      <p:sp>
        <p:nvSpPr>
          <p:cNvPr id="15" name="Shape 15"/>
          <p:cNvSpPr txBox="1"/>
          <p:nvPr/>
        </p:nvSpPr>
        <p:spPr>
          <a:xfrm>
            <a:off x="4041648" y="3072384"/>
            <a:ext cx="41605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展示 todos、tool events、文件读写、产物</a:t>
            </a:r>
            <a:endParaRPr lang="zh-CN" sz="1300"/>
          </a:p>
        </p:txBody>
      </p:sp>
      <p:sp>
        <p:nvSpPr>
          <p:cNvPr id="16" name="Shape 16"/>
          <p:cNvSpPr txBox="1"/>
          <p:nvPr/>
        </p:nvSpPr>
        <p:spPr>
          <a:xfrm>
            <a:off x="914400" y="3858768"/>
            <a:ext cx="621792" cy="420624"/>
          </a:xfrm>
          <a:prstGeom prst="round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04</a:t>
            </a:r>
            <a:endParaRPr lang="zh-CN" sz="1400"/>
          </a:p>
        </p:txBody>
      </p:sp>
      <p:sp>
        <p:nvSpPr>
          <p:cNvPr id="17" name="Shape 17"/>
          <p:cNvSpPr txBox="1"/>
          <p:nvPr/>
        </p:nvSpPr>
        <p:spPr>
          <a:xfrm>
            <a:off x="1792224" y="3849624"/>
            <a:ext cx="2560320" cy="2743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7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触发一次审批</a:t>
            </a:r>
            <a:endParaRPr lang="zh-CN" sz="1700"/>
          </a:p>
        </p:txBody>
      </p:sp>
      <p:sp>
        <p:nvSpPr>
          <p:cNvPr id="18" name="Shape 18"/>
          <p:cNvSpPr txBox="1"/>
          <p:nvPr/>
        </p:nvSpPr>
        <p:spPr>
          <a:xfrm>
            <a:off x="4041648" y="3858768"/>
            <a:ext cx="41605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解释为什么审批发生在执行前</a:t>
            </a:r>
            <a:endParaRPr lang="zh-CN" sz="1300"/>
          </a:p>
        </p:txBody>
      </p:sp>
      <p:sp>
        <p:nvSpPr>
          <p:cNvPr id="19" name="Shape 19"/>
          <p:cNvSpPr txBox="1"/>
          <p:nvPr/>
        </p:nvSpPr>
        <p:spPr>
          <a:xfrm>
            <a:off x="914400" y="4645152"/>
            <a:ext cx="621792" cy="420624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13A49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05</a:t>
            </a:r>
            <a:endParaRPr lang="zh-CN" sz="1400"/>
          </a:p>
        </p:txBody>
      </p:sp>
      <p:sp>
        <p:nvSpPr>
          <p:cNvPr id="20" name="Shape 20"/>
          <p:cNvSpPr txBox="1"/>
          <p:nvPr/>
        </p:nvSpPr>
        <p:spPr>
          <a:xfrm>
            <a:off x="1792224" y="4636008"/>
            <a:ext cx="2560320" cy="2743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7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查看结果与历史</a:t>
            </a:r>
            <a:endParaRPr lang="zh-CN" sz="1700"/>
          </a:p>
        </p:txBody>
      </p:sp>
      <p:sp>
        <p:nvSpPr>
          <p:cNvPr id="21" name="Shape 21"/>
          <p:cNvSpPr txBox="1"/>
          <p:nvPr/>
        </p:nvSpPr>
        <p:spPr>
          <a:xfrm>
            <a:off x="4041648" y="4645152"/>
            <a:ext cx="416052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3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展示 artifacts、run status、恢复入口</a:t>
            </a:r>
            <a:endParaRPr lang="zh-CN" sz="1300"/>
          </a:p>
        </p:txBody>
      </p:sp>
      <p:sp>
        <p:nvSpPr>
          <p:cNvPr id="22" name="Shape 22"/>
          <p:cNvSpPr txBox="1"/>
          <p:nvPr/>
        </p:nvSpPr>
        <p:spPr>
          <a:xfrm>
            <a:off x="7818120" y="5074920"/>
            <a:ext cx="3310128" cy="768096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DDC97"/>
            </a:solidFill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演示结论：用户没有把控制权交出去，只是把执行劳动委托出去。</a:t>
            </a:r>
            <a:endParaRPr lang="zh-CN" sz="1400"/>
          </a:p>
        </p:txBody>
      </p:sp>
      <p:sp>
        <p:nvSpPr>
          <p:cNvPr id="23" name="Shape 23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建议 demo flow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11</a:t>
            </a:r>
            <a:endParaRPr lang="zh-CN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WHAT MATTERS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判断项目进展的标准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822960" y="1463040"/>
            <a:ext cx="10561320" cy="6583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0"/>
          <p:nvPr/>
        </p:nvSpPr>
        <p:spPr>
          <a:xfrm>
            <a:off x="822960" y="1463040"/>
            <a:ext cx="109728" cy="65836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133856" y="1618488"/>
            <a:ext cx="1225296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可控</a:t>
            </a:r>
            <a:endParaRPr lang="zh-CN" sz="1600"/>
          </a:p>
        </p:txBody>
      </p:sp>
      <p:sp>
        <p:nvSpPr>
          <p:cNvPr id="9" name="Shape 9"/>
          <p:cNvSpPr txBox="1"/>
          <p:nvPr/>
        </p:nvSpPr>
        <p:spPr>
          <a:xfrm>
            <a:off x="2542032" y="1618488"/>
            <a:ext cx="8046720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关键动作是否在正确时刻交给人判断？</a:t>
            </a:r>
            <a:endParaRPr lang="zh-CN" sz="1400"/>
          </a:p>
        </p:txBody>
      </p:sp>
      <p:sp>
        <p:nvSpPr>
          <p:cNvPr id="10" name="Shape 10"/>
          <p:cNvSpPr txBox="0"/>
          <p:nvPr/>
        </p:nvSpPr>
        <p:spPr>
          <a:xfrm>
            <a:off x="822960" y="2340864"/>
            <a:ext cx="10561320" cy="6583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1" name="Shape 11"/>
          <p:cNvSpPr txBox="0"/>
          <p:nvPr/>
        </p:nvSpPr>
        <p:spPr>
          <a:xfrm>
            <a:off x="822960" y="2340864"/>
            <a:ext cx="109728" cy="658368"/>
          </a:xfrm>
          <a:prstGeom prst="rect">
            <a:avLst/>
          </a:prstGeom>
          <a:solidFill>
            <a:srgbClr val="4AA8FF"/>
          </a:solidFill>
          <a:ln w="9525">
            <a:solidFill>
              <a:srgbClr val="4AA8FF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133856" y="2496312"/>
            <a:ext cx="1225296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可见</a:t>
            </a:r>
            <a:endParaRPr lang="zh-CN" sz="1600"/>
          </a:p>
        </p:txBody>
      </p:sp>
      <p:sp>
        <p:nvSpPr>
          <p:cNvPr id="13" name="Shape 13"/>
          <p:cNvSpPr txBox="1"/>
          <p:nvPr/>
        </p:nvSpPr>
        <p:spPr>
          <a:xfrm>
            <a:off x="2542032" y="2496312"/>
            <a:ext cx="8046720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用户是否能看懂 Agent 的计划、进展、等待事项和结果？</a:t>
            </a:r>
            <a:endParaRPr lang="zh-CN" sz="1400"/>
          </a:p>
        </p:txBody>
      </p:sp>
      <p:sp>
        <p:nvSpPr>
          <p:cNvPr id="14" name="Shape 14"/>
          <p:cNvSpPr txBox="0"/>
          <p:nvPr/>
        </p:nvSpPr>
        <p:spPr>
          <a:xfrm>
            <a:off x="822960" y="3218688"/>
            <a:ext cx="10561320" cy="6583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5" name="Shape 15"/>
          <p:cNvSpPr txBox="0"/>
          <p:nvPr/>
        </p:nvSpPr>
        <p:spPr>
          <a:xfrm>
            <a:off x="822960" y="3218688"/>
            <a:ext cx="109728" cy="65836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1133856" y="3374136"/>
            <a:ext cx="1225296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可恢复</a:t>
            </a:r>
            <a:endParaRPr lang="zh-CN" sz="1600"/>
          </a:p>
        </p:txBody>
      </p:sp>
      <p:sp>
        <p:nvSpPr>
          <p:cNvPr id="17" name="Shape 17"/>
          <p:cNvSpPr txBox="1"/>
          <p:nvPr/>
        </p:nvSpPr>
        <p:spPr>
          <a:xfrm>
            <a:off x="2542032" y="3374136"/>
            <a:ext cx="8046720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失败、刷新、关闭窗口后，run 状态和审批是否仍可找回？</a:t>
            </a:r>
            <a:endParaRPr lang="zh-CN" sz="1400"/>
          </a:p>
        </p:txBody>
      </p:sp>
      <p:sp>
        <p:nvSpPr>
          <p:cNvPr id="18" name="Shape 18"/>
          <p:cNvSpPr txBox="0"/>
          <p:nvPr/>
        </p:nvSpPr>
        <p:spPr>
          <a:xfrm>
            <a:off x="822960" y="4096512"/>
            <a:ext cx="10561320" cy="658368"/>
          </a:xfrm>
          <a:prstGeom prst="roundRect">
            <a:avLst/>
          </a:prstGeom>
          <a:solidFill>
            <a:srgbClr val="171C24"/>
          </a:solidFill>
          <a:ln w="9525">
            <a:solidFill>
              <a:srgbClr val="313A49"/>
            </a:solidFill>
          </a:ln>
        </p:spPr>
      </p:sp>
      <p:sp>
        <p:nvSpPr>
          <p:cNvPr id="19" name="Shape 19"/>
          <p:cNvSpPr txBox="0"/>
          <p:nvPr/>
        </p:nvSpPr>
        <p:spPr>
          <a:xfrm>
            <a:off x="822960" y="4096512"/>
            <a:ext cx="109728" cy="658368"/>
          </a:xfrm>
          <a:prstGeom prst="rect">
            <a:avLst/>
          </a:prstGeom>
          <a:solidFill>
            <a:srgbClr val="F2C94C"/>
          </a:solidFill>
          <a:ln w="9525">
            <a:solidFill>
              <a:srgbClr val="F2C94C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133856" y="4251960"/>
            <a:ext cx="1225296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6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边界清楚</a:t>
            </a:r>
            <a:endParaRPr lang="zh-CN" sz="1600"/>
          </a:p>
        </p:txBody>
      </p:sp>
      <p:sp>
        <p:nvSpPr>
          <p:cNvPr id="21" name="Shape 21"/>
          <p:cNvSpPr txBox="1"/>
          <p:nvPr/>
        </p:nvSpPr>
        <p:spPr>
          <a:xfrm>
            <a:off x="2542032" y="4251960"/>
            <a:ext cx="8046720" cy="21945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400">
                <a:solidFill>
                  <a:srgbClr val="A7B0BE"/>
                </a:solidFill>
                <a:latin typeface="Aptos"/>
                <a:ea typeface="PingFang SC"/>
                <a:cs typeface="Aptos"/>
              </a:rPr>
              <a:t>状态归属、依赖方向、失败语义是否明确？</a:t>
            </a:r>
            <a:endParaRPr lang="zh-CN" sz="1400"/>
          </a:p>
        </p:txBody>
      </p:sp>
      <p:sp>
        <p:nvSpPr>
          <p:cNvPr id="22" name="Shape 22"/>
          <p:cNvSpPr txBox="1"/>
          <p:nvPr/>
        </p:nvSpPr>
        <p:spPr>
          <a:xfrm>
            <a:off x="841248" y="5532120"/>
            <a:ext cx="10424160" cy="603504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8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当前方向：构建一个安全、可控的软件 Agent，让每次 run 都成为可检查的工作单元，用户永远不会失去理解和介入的能力。</a:t>
            </a:r>
            <a:endParaRPr lang="zh-CN" sz="1800"/>
          </a:p>
        </p:txBody>
      </p:sp>
      <p:sp>
        <p:nvSpPr>
          <p:cNvPr id="23" name="Shape 23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docs/product-narrative.md / docs/engineering-boundaries.md</a:t>
            </a:r>
            <a:endParaRPr lang="zh-CN" sz="800"/>
          </a:p>
        </p:txBody>
      </p:sp>
      <p:sp>
        <p:nvSpPr>
          <p:cNvPr id="24" name="Shape 24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12</a:t>
            </a:r>
            <a:endParaRPr lang="zh-CN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7"/>
          </a:solidFill>
          <a:ln w="9525">
            <a:solidFill>
              <a:srgbClr val="0F1217"/>
            </a:solidFill>
          </a:ln>
        </p:spPr>
      </p:sp>
      <p:sp>
        <p:nvSpPr>
          <p:cNvPr id="3" name="Shape 3"/>
          <p:cNvSpPr txBox="0"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B4B"/>
          </a:solidFill>
          <a:ln w="9525">
            <a:solidFill>
              <a:srgbClr val="FF4B4B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749808" y="438912"/>
            <a:ext cx="3291840" cy="256032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1000">
                <a:solidFill>
                  <a:srgbClr val="FF4B4B"/>
                </a:solidFill>
                <a:latin typeface="Aptos"/>
                <a:ea typeface="PingFang SC"/>
                <a:cs typeface="Aptos"/>
              </a:rPr>
              <a:t>REFERENCE</a:t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749808" y="694944"/>
            <a:ext cx="9875520" cy="493776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b="1" lang="zh-CN" sz="3000">
                <a:solidFill>
                  <a:srgbClr val="F5F7FA"/>
                </a:solidFill>
                <a:latin typeface="Aptos"/>
                <a:ea typeface="PingFang SC"/>
                <a:cs typeface="Aptos"/>
              </a:rPr>
              <a:t>附：源码锚点</a:t>
            </a:r>
            <a:endParaRPr lang="zh-CN" sz="3000"/>
          </a:p>
        </p:txBody>
      </p:sp>
      <p:sp>
        <p:nvSpPr>
          <p:cNvPr id="6" name="Shape 6"/>
          <p:cNvSpPr txBox="0"/>
          <p:nvPr/>
        </p:nvSpPr>
        <p:spPr>
          <a:xfrm>
            <a:off x="786384" y="1298448"/>
            <a:ext cx="5257800" cy="4517136"/>
          </a:xfrm>
          <a:prstGeom prst="roundRect">
            <a:avLst/>
          </a:prstGeom>
          <a:solidFill>
            <a:srgbClr val="0B0E13"/>
          </a:solidFill>
          <a:ln w="9525">
            <a:solidFill>
              <a:srgbClr val="313A49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60704" y="1591056"/>
            <a:ext cx="4709160" cy="39319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产品叙事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docs/product-narrative.md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docs/engineering-boundaries.md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docs/runtime-invariants.md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/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主进程与 runtime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src/main/composition-root.ts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src/main/agent/service.ts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src/main/agent/runtime.ts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src/main/agent/persistence.ts</a:t>
            </a:r>
            <a:endParaRPr lang="zh-CN" sz="1200"/>
          </a:p>
        </p:txBody>
      </p:sp>
      <p:sp>
        <p:nvSpPr>
          <p:cNvPr id="8" name="Shape 8"/>
          <p:cNvSpPr txBox="0"/>
          <p:nvPr/>
        </p:nvSpPr>
        <p:spPr>
          <a:xfrm>
            <a:off x="6327648" y="1298448"/>
            <a:ext cx="5047488" cy="4517136"/>
          </a:xfrm>
          <a:prstGeom prst="roundRect">
            <a:avLst/>
          </a:prstGeom>
          <a:solidFill>
            <a:srgbClr val="0B0E13"/>
          </a:solidFill>
          <a:ln w="9525">
            <a:solidFill>
              <a:srgbClr val="313A4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601968" y="1591056"/>
            <a:ext cx="4498848" cy="3931920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界面与扩展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src/renderer/src/launcher-shell/LauncherApp.tsx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src/renderer/src/ai-core/LauncherAiPage.tsx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src/renderer/src/extension-host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src/extensions/runtime-api.ts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src/extensions/github/manifest.ts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/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持久化与验证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prisma/schema.prisma</a:t>
            </a:r>
            <a:endParaRPr lang="zh-CN" sz="1200"/>
          </a:p>
          <a:p>
            <a:pPr algn="l"/>
            <a:r>
              <a:rPr lang="zh-CN" sz="1200">
                <a:solidFill>
                  <a:srgbClr val="A7B0BE"/>
                </a:solidFill>
                <a:latin typeface="Menlo"/>
                <a:ea typeface="Menlo"/>
                <a:cs typeface="Menlo"/>
              </a:rPr>
              <a:t>tests/bdd</a:t>
            </a:r>
            <a:endParaRPr lang="zh-CN" sz="1200"/>
          </a:p>
        </p:txBody>
      </p:sp>
      <p:sp>
        <p:nvSpPr>
          <p:cNvPr id="10" name="Shape 10"/>
          <p:cNvSpPr txBox="1"/>
          <p:nvPr/>
        </p:nvSpPr>
        <p:spPr>
          <a:xfrm>
            <a:off x="749808" y="6336792"/>
            <a:ext cx="438912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l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local repository</a:t>
            </a:r>
            <a:endParaRPr lang="zh-CN" sz="800"/>
          </a:p>
        </p:txBody>
      </p:sp>
      <p:sp>
        <p:nvSpPr>
          <p:cNvPr id="11" name="Shape 11"/>
          <p:cNvSpPr txBox="1"/>
          <p:nvPr/>
        </p:nvSpPr>
        <p:spPr>
          <a:xfrm>
            <a:off x="10771632" y="6336792"/>
            <a:ext cx="640080" cy="201168"/>
          </a:xfrm>
          <a:prstGeom prst="rect">
            <a:avLst/>
          </a:prstGeom>
          <a:noFill/>
          <a:ln w="9525">
            <a:noFill/>
          </a:ln>
        </p:spPr>
        <p:txBody>
          <a:bodyPr anchor="mid" bIns="27432" lIns="45720" rIns="45720" tIns="27432" wrap="square">
            <a:normAutofit/>
          </a:bodyPr>
          <a:lstStyle/>
          <a:p>
            <a:pPr algn="r"/>
            <a:r>
              <a:rPr lang="zh-CN" sz="800">
                <a:solidFill>
                  <a:srgbClr val="697386"/>
                </a:solidFill>
                <a:latin typeface="Aptos"/>
                <a:ea typeface="PingFang SC"/>
                <a:cs typeface="Aptos"/>
              </a:rPr>
              <a:t>13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work">
  <a:themeElements>
    <a:clrScheme name="Openwork">
      <a:dk1>
        <a:srgbClr val="0F1217"/>
      </a:dk1>
      <a:lt1>
        <a:srgbClr val="F5F7FA"/>
      </a:lt1>
      <a:dk2>
        <a:srgbClr val="171C24"/>
      </a:dk2>
      <a:lt2>
        <a:srgbClr val="A7B0BE"/>
      </a:lt2>
      <a:accent1>
        <a:srgbClr val="FF4B4B"/>
      </a:accent1>
      <a:accent2>
        <a:srgbClr val="4AA8FF"/>
      </a:accent2>
      <a:accent3>
        <a:srgbClr val="3DDC97"/>
      </a:accent3>
      <a:accent4>
        <a:srgbClr val="F2C94C"/>
      </a:accent4>
      <a:accent5>
        <a:srgbClr val="A78BFA"/>
      </a:accent5>
      <a:accent6>
        <a:srgbClr val="FF9F43"/>
      </a:accent6>
      <a:hlink>
        <a:srgbClr val="4AA8FF"/>
      </a:hlink>
      <a:folHlink>
        <a:srgbClr val="A78BFA"/>
      </a:folHlink>
    </a:clrScheme>
    <a:fontScheme name="Openwork">
      <a:majorFont>
        <a:latin typeface="Aptos Display"/>
        <a:ea typeface="PingFang SC"/>
        <a:cs typeface="Aptos Display"/>
      </a:majorFont>
      <a:minorFont>
        <a:latin typeface="Aptos"/>
        <a:ea typeface="PingFang SC"/>
        <a:cs typeface="Aptos"/>
      </a:minorFont>
    </a:fontScheme>
    <a:fmtScheme name="Openwo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Openwork</Application>
  <PresentationFormat>On-screen Show (16:9)</PresentationFormat>
  <Slides>13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13</vt:i4>
      </vt:variant>
    </vt:vector>
  </HeadingPairs>
  <TitlesOfParts>
    <vt:vector size="13" baseType="lpstr">
      <vt:lpstr>Openwork</vt:lpstr>
      <vt:lpstr>为什么需要 Openwork</vt:lpstr>
      <vt:lpstr>产品判断</vt:lpstr>
      <vt:lpstr>Hero Workflow</vt:lpstr>
      <vt:lpstr>系统分层</vt:lpstr>
      <vt:lpstr>Main Process 是执行真相</vt:lpstr>
      <vt:lpstr>Agent Runtime</vt:lpstr>
      <vt:lpstr>审批不是摩擦，是信任基础设施</vt:lpstr>
      <vt:lpstr>持久化就是 Harness</vt:lpstr>
      <vt:lpstr>Launcher 与 Extension</vt:lpstr>
      <vt:lpstr>一次分享该怎么演示</vt:lpstr>
      <vt:lpstr>判断项目进展的标准</vt:lpstr>
      <vt:lpstr>附：源码锚点</vt:lpstr>
    </vt:vector>
  </TitlesOfParts>
  <Company>Openwork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Openwork 项目分享</dc:title>
  <dc:subject>Harness-first desktop agent project overview</dc:subject>
  <dc:creator>Codex</dc:creator>
  <cp:lastModifiedBy>Codex</cp:lastModifiedBy>
  <dcterms:created xsi:type="dcterms:W3CDTF">2026-05-19T21:33:05.329Z</dcterms:created>
  <dcterms:modified xsi:type="dcterms:W3CDTF">2026-05-19T21:33:05.329Z</dcterms:modified>
</cp:coreProperties>
</file>